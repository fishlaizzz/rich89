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1204" r:id="rId2"/>
    <p:sldId id="1205" r:id="rId3"/>
    <p:sldId id="1206" r:id="rId4"/>
    <p:sldId id="1207" r:id="rId5"/>
    <p:sldId id="1208" r:id="rId6"/>
    <p:sldId id="1209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BE6E7E-1196-5D46-9871-9D32A895634B}" v="27" dt="2024-11-21T07:42:44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82" autoAdjust="0"/>
    <p:restoredTop sz="87006" autoAdjust="0"/>
  </p:normalViewPr>
  <p:slideViewPr>
    <p:cSldViewPr snapToGrid="0">
      <p:cViewPr varScale="1">
        <p:scale>
          <a:sx n="55" d="100"/>
          <a:sy n="55" d="100"/>
        </p:scale>
        <p:origin x="616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B3FC5-6CEE-074C-8C61-1838B7A709DA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C8FFB-7BFF-FE46-9A34-10A2EAAEB98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86794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53C7-B544-4834-137A-7CA9D36A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829E2F4-9540-AD1B-A5B2-F4624319C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096B12-BD26-C84C-C8F2-D4FE6A61F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CD8316-7492-56C2-6C99-B16C28BD5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7FDA93-48AB-4539-B0A0-BDCF1F881B6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996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D670-C80F-870F-4CCB-D8AAD1C6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AD1E7D0-2C17-8206-DD90-4C0C3816A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650B73-0237-25E7-B1CE-75CA6B80D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D9BE0F-6D19-343B-D91F-FCBBAFBAA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7FDA93-48AB-4539-B0A0-BDCF1F881B6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7646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6D8F-064A-E7E0-7A7A-CF558334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D5C3037-2B75-AD0F-5846-864B807CB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8CD3DD-B3DE-1F81-94B8-5169F405C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A7F4C3-D85F-10BC-BB63-9F99E274C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7FDA93-48AB-4539-B0A0-BDCF1F881B6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34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FEE72-DD23-0D7E-4B2F-D80108A3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1203EDF-21A1-74B6-3A53-96DBD9783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D34D056-503D-F0C1-1F10-45675874E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A29512-C5D5-0831-F881-C50FF243F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7FDA93-48AB-4539-B0A0-BDCF1F881B6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657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B0EF-4402-B2E6-C0A4-629C90D18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51ADDB-B92F-4176-6157-E5CA2F07A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27FF9A-4FBD-288E-4416-7791EFE60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EE2D3F-C93F-8015-E2BE-F17DC563B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7FDA93-48AB-4539-B0A0-BDCF1F881B6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914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09086-10BA-A75C-2B8D-2E517FCA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37F4CD6-8CAD-628C-8A33-B27A14895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B08F4B4-823A-F395-11FD-55996D1B2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02262A-E385-42A1-6D81-30F29510C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7FDA93-48AB-4539-B0A0-BDCF1F881B6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9477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13B1E-EB58-D40B-774F-147D6C4B0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F4C2ACE-0EBD-635F-9E85-8291404F5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8DAEFC-9BC2-29EC-8B70-C43939D0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F12B0F-1840-A1D3-38F1-178B0CF8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1FA560-54C0-6F89-4657-EF06EEC6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999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A05F23-B95A-A8B2-092E-FB6BC522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26D178-6000-F9E9-05E7-4F88E5DF4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BE213D-7260-1092-1628-665BD62B1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C1CD77-94B6-C5BA-B1A3-C06670D7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408802-D024-7D57-96B4-1B893939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694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E17CBD-4AF5-696A-BF9B-74F35F7F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B906C5-9896-1CC8-A16F-F8CB6BA3C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FE9532-35E0-21F1-675B-672E383C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57C602-F85B-48A3-7902-4BE33241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60DC04-46E4-17DB-E097-5CD50CEC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974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F7600E-AC23-549C-F806-7FAE161C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FCAF3D-7F2B-F85C-CC1B-6ED4668C1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E0FDE2E-6C98-8175-D1D0-1529A6F0F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F2C1BD-6459-32B2-40CF-ACDA26D23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DC86AB-CDB8-0514-0398-C0F1CD26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99FE39-2534-6056-8F6E-68497B9E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68879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38AB07-361B-5803-1C23-105A20E9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60C2DA-38A8-77FC-74F6-FAEE4508D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C13CFB9-7F3A-5241-B59B-0D9CB5472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EB4986D-29BB-DB10-5F09-1BA9A56F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7871B6C-BAE9-5351-A853-3EE8DA35F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F0F2285-2B6A-399B-649A-79090908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F72DE46-3A31-9C45-BC0E-0EDDF2663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91C75A5-BBB6-2054-9EA8-AF6B6D9B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7369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DB7EDA-46F1-61FF-961D-6E35C1C5C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290A56B-9280-0901-20A9-E1289EA5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67CF002-04C5-2EE3-8891-096ED377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5920F2C-ACFD-0851-5780-0DB9DC16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3428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B19E560-3F0A-B1BB-1375-3335CAB3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705DA8C-ADB3-3722-369A-E0831503D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79457F-2BCA-1AFA-9E43-3719BE3B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9388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056F96-5BD0-6C04-336F-01865314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EA54FC-2AA0-DD90-CD1C-BAC09F64D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7DABDDC-DE4E-B8DF-A08A-3203EBF20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EFAD44-241B-1F71-8BBB-C31F77CD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1800817-A8CF-8A3D-4B86-55363C4F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DDADB8-2E48-2B9C-C611-4763B391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368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A1791-963A-DA68-E48A-60061625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212A5B7-78C0-8C12-05F2-AA0232D57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B5B858-8FFC-CF9D-DE13-3F0B7F20A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AD3229-62E2-C389-21FB-FED4D636D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932384-9868-66BB-55E2-41AF904A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B21D54-52E9-CD1F-01C7-82724EF9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5079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876945-B3B4-CD5C-D78C-E67D8395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72151A-ACC1-09B0-AAE1-A8A8E301A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990DEC-C89A-9D43-22BC-B0F3A299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CC5494-CF16-B08E-7924-61BB9C96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9D91CE-B9EA-E381-471F-D2489FCA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397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D3A276D-13EA-B4FE-20D0-F3A2E749F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236F79-0274-1730-B8F3-63A043D62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A83EB3-DB7B-8A77-A18E-6EA243F6F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F06115-0568-EBE5-2244-AF7DBDE4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FE2D01-CB67-4FA2-BA2B-D8811983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9365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896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908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18C4E9A-62A7-A394-D4F7-6E4584FB5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F9AC3E-B20B-7B24-319B-BA146E506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3E210B-C31C-D717-CBCF-F11F5B1FA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DA045-87DC-5444-BE23-FE7B579AD81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4B75DA-9EEE-9F3A-AB25-3AAB76334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9C1B69-5090-C559-5651-AC07C7D35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ED259-0FAB-E742-A3D7-B091C9D98F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216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C9BE-0F1C-C604-1BF0-A7446234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5133268-C56F-8AC1-82CE-A803480C94B3}"/>
              </a:ext>
            </a:extLst>
          </p:cNvPr>
          <p:cNvSpPr/>
          <p:nvPr/>
        </p:nvSpPr>
        <p:spPr>
          <a:xfrm>
            <a:off x="1640213" y="2644170"/>
            <a:ext cx="8911573" cy="1569660"/>
          </a:xfrm>
          <a:prstGeom prst="rect">
            <a:avLst/>
          </a:prstGeom>
          <a:solidFill>
            <a:srgbClr val="E5336D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9600" b="1" dirty="0">
                <a:solidFill>
                  <a:schemeClr val="bg1"/>
                </a:solidFill>
              </a:rPr>
              <a:t>88</a:t>
            </a:r>
            <a:r>
              <a:rPr lang="zh-TW" altLang="en-US" sz="9600" b="1" dirty="0">
                <a:solidFill>
                  <a:schemeClr val="bg1"/>
                </a:solidFill>
              </a:rPr>
              <a:t>期</a:t>
            </a:r>
            <a:endParaRPr lang="en-US" altLang="zh-TW" sz="9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5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E1E4-7599-BD40-2ABE-F890D6D5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A13E14C-53C2-2313-098F-4F35B418F921}"/>
              </a:ext>
            </a:extLst>
          </p:cNvPr>
          <p:cNvSpPr/>
          <p:nvPr/>
        </p:nvSpPr>
        <p:spPr>
          <a:xfrm>
            <a:off x="565376" y="1953884"/>
            <a:ext cx="1296000" cy="3170099"/>
          </a:xfrm>
          <a:prstGeom prst="rect">
            <a:avLst/>
          </a:prstGeom>
          <a:solidFill>
            <a:srgbClr val="F9851B"/>
          </a:solidFill>
        </p:spPr>
        <p:txBody>
          <a:bodyPr wrap="square">
            <a:spAutoFit/>
          </a:bodyPr>
          <a:lstStyle/>
          <a:p>
            <a:pPr algn="ctr"/>
            <a:r>
              <a:rPr sz="6000" b="1" dirty="0">
                <a:solidFill>
                  <a:srgbClr val="FFFFFF"/>
                </a:solidFill>
                <a:latin typeface="新細明體 (本文)"/>
              </a:rPr>
              <a:t>第</a:t>
            </a:r>
            <a:r>
              <a:rPr lang="en-US" sz="8000" b="1" dirty="0">
                <a:solidFill>
                  <a:srgbClr val="FFFFFF"/>
                </a:solidFill>
                <a:latin typeface="Aptos (本文)"/>
              </a:rPr>
              <a:t>1</a:t>
            </a:r>
            <a:r>
              <a:rPr sz="6000" b="1" dirty="0">
                <a:solidFill>
                  <a:srgbClr val="FFFFFF"/>
                </a:solidFill>
                <a:latin typeface="新細明體 (本文)"/>
              </a:rPr>
              <a:t>組</a:t>
            </a:r>
            <a:endParaRPr lang="en-US" altLang="zh-TW" sz="6000" b="1" dirty="0">
              <a:solidFill>
                <a:schemeClr val="bg1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E317044-86A9-4BFD-7206-5556E84025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90" r="16590"/>
          <a:stretch/>
        </p:blipFill>
        <p:spPr>
          <a:xfrm>
            <a:off x="2511231" y="400252"/>
            <a:ext cx="4102763" cy="6084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4D25C04-10BF-49CD-D9A4-69693201C8D7}"/>
              </a:ext>
            </a:extLst>
          </p:cNvPr>
          <p:cNvSpPr/>
          <p:nvPr/>
        </p:nvSpPr>
        <p:spPr>
          <a:xfrm>
            <a:off x="2509993" y="5564752"/>
            <a:ext cx="4102763" cy="923330"/>
          </a:xfrm>
          <a:prstGeom prst="rect">
            <a:avLst/>
          </a:prstGeom>
          <a:solidFill>
            <a:srgbClr val="E5336D"/>
          </a:solidFill>
        </p:spPr>
        <p:txBody>
          <a:bodyPr wrap="square" lIns="45720" rIns="45720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微軟正黑體"/>
              </a:rPr>
              <a:t>#</a:t>
            </a:r>
            <a:r>
              <a:rPr b="1" dirty="0" err="1">
                <a:solidFill>
                  <a:srgbClr val="FFFFFF"/>
                </a:solidFill>
                <a:latin typeface="微軟正黑體"/>
              </a:rPr>
              <a:t>能量學輔導長</a:t>
            </a:r>
            <a:endParaRPr b="1" dirty="0">
              <a:solidFill>
                <a:srgbClr val="FFFFFF"/>
              </a:solidFill>
              <a:latin typeface="微軟正黑體"/>
            </a:endParaRPr>
          </a:p>
          <a:p>
            <a:pPr algn="l"/>
            <a:r>
              <a:rPr b="1" dirty="0">
                <a:solidFill>
                  <a:srgbClr val="FFFFFF"/>
                </a:solidFill>
                <a:latin typeface="微軟正黑體"/>
              </a:rPr>
              <a:t>#</a:t>
            </a:r>
            <a:r>
              <a:rPr b="1" dirty="0" err="1">
                <a:solidFill>
                  <a:srgbClr val="FFFFFF"/>
                </a:solidFill>
                <a:latin typeface="微軟正黑體"/>
              </a:rPr>
              <a:t>台灣茶製茶師</a:t>
            </a:r>
            <a:endParaRPr b="1" dirty="0">
              <a:solidFill>
                <a:srgbClr val="FFFFFF"/>
              </a:solidFill>
              <a:latin typeface="微軟正黑體"/>
            </a:endParaRPr>
          </a:p>
          <a:p>
            <a:pPr algn="l"/>
            <a:r>
              <a:rPr b="1" dirty="0">
                <a:solidFill>
                  <a:srgbClr val="FFFFFF"/>
                </a:solidFill>
                <a:latin typeface="微軟正黑體"/>
              </a:rPr>
              <a:t>#</a:t>
            </a:r>
            <a:r>
              <a:rPr b="1" dirty="0" err="1">
                <a:solidFill>
                  <a:srgbClr val="FFFFFF"/>
                </a:solidFill>
                <a:latin typeface="微軟正黑體"/>
              </a:rPr>
              <a:t>高雄應用科大</a:t>
            </a:r>
            <a:r>
              <a:rPr b="1" dirty="0">
                <a:solidFill>
                  <a:srgbClr val="FFFFFF"/>
                </a:solidFill>
                <a:latin typeface="微軟正黑體"/>
              </a:rPr>
              <a:t> </a:t>
            </a:r>
            <a:r>
              <a:rPr b="1" dirty="0" err="1">
                <a:solidFill>
                  <a:srgbClr val="FFFFFF"/>
                </a:solidFill>
                <a:latin typeface="微軟正黑體"/>
              </a:rPr>
              <a:t>遇到台灣茶教授</a:t>
            </a:r>
            <a:endParaRPr b="1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DA2881C-F639-EC4C-54CC-3D2D06D43C8F}"/>
              </a:ext>
            </a:extLst>
          </p:cNvPr>
          <p:cNvSpPr txBox="1"/>
          <p:nvPr/>
        </p:nvSpPr>
        <p:spPr>
          <a:xfrm>
            <a:off x="2509994" y="4839941"/>
            <a:ext cx="1748855" cy="707886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solidFill/>
                <a:latin typeface="微軟正黑體" panose="020B0604030504040204" pitchFamily="34" charset="-120"/>
                <a:ea typeface="微軟正黑體" panose="020B0604030504040204" pitchFamily="34" charset="-120"/>
              </a:rPr>
              <a:t>王宥鈞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567243-819D-B3DE-FF73-63AB6488230E}"/>
              </a:ext>
            </a:extLst>
          </p:cNvPr>
          <p:cNvSpPr txBox="1"/>
          <p:nvPr/>
        </p:nvSpPr>
        <p:spPr>
          <a:xfrm>
            <a:off x="2509994" y="4386605"/>
            <a:ext cx="1224000" cy="461665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商人</a:t>
            </a:r>
            <a:endPara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 descr="一張含有 人員, 人的臉孔, 服裝, 戶外 的圖片&#10;&#10;AI 產生的內容可能不正確。">
            <a:extLst>
              <a:ext uri="{FF2B5EF4-FFF2-40B4-BE49-F238E27FC236}">
                <a16:creationId xmlns:a16="http://schemas.microsoft.com/office/drawing/2014/main" id="{43B0FFFB-3ACD-C7CC-71BB-E24F01BF7B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76"/>
          <a:stretch>
            <a:fillRect/>
          </a:stretch>
        </p:blipFill>
        <p:spPr>
          <a:xfrm>
            <a:off x="7222927" y="361242"/>
            <a:ext cx="4175098" cy="548603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808EF57-94D3-AC18-60D4-60FAEA7AB5FC}"/>
              </a:ext>
            </a:extLst>
          </p:cNvPr>
          <p:cNvSpPr/>
          <p:nvPr/>
        </p:nvSpPr>
        <p:spPr>
          <a:xfrm>
            <a:off x="7222927" y="5565550"/>
            <a:ext cx="4175098" cy="923330"/>
          </a:xfrm>
          <a:prstGeom prst="rect">
            <a:avLst/>
          </a:prstGeom>
          <a:solidFill>
            <a:srgbClr val="E5336D"/>
          </a:solidFill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</a:rPr>
              <a:t>#</a:t>
            </a:r>
            <a:r>
              <a:rPr lang="zh-TW" altLang="en-US" b="1" dirty="0">
                <a:solidFill>
                  <a:schemeClr val="bg1"/>
                </a:solidFill>
              </a:rPr>
              <a:t> 暖心健身教練</a:t>
            </a:r>
          </a:p>
          <a:p>
            <a:r>
              <a:rPr lang="en-US" altLang="zh-TW" b="1" dirty="0">
                <a:solidFill>
                  <a:schemeClr val="bg1"/>
                </a:solidFill>
              </a:rPr>
              <a:t>#</a:t>
            </a:r>
            <a:r>
              <a:rPr lang="zh-TW" altLang="en-US" b="1" dirty="0">
                <a:solidFill>
                  <a:schemeClr val="bg1"/>
                </a:solidFill>
              </a:rPr>
              <a:t>天賦指引師</a:t>
            </a:r>
          </a:p>
          <a:p>
            <a:r>
              <a:rPr lang="en-US" altLang="zh-TW" b="1" dirty="0">
                <a:solidFill>
                  <a:schemeClr val="bg1"/>
                </a:solidFill>
              </a:rPr>
              <a:t>#</a:t>
            </a:r>
            <a:r>
              <a:rPr lang="zh-TW" altLang="en-US" b="1" dirty="0">
                <a:solidFill>
                  <a:schemeClr val="bg1"/>
                </a:solidFill>
              </a:rPr>
              <a:t>長期主義者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9677C2D-1DE4-0EE3-3472-098BBEF69678}"/>
              </a:ext>
            </a:extLst>
          </p:cNvPr>
          <p:cNvSpPr txBox="1"/>
          <p:nvPr/>
        </p:nvSpPr>
        <p:spPr>
          <a:xfrm>
            <a:off x="7212854" y="4857664"/>
            <a:ext cx="1874221" cy="707886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許蓓瑾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E025A1D-9E29-D86E-5DA1-7A948DF1EE03}"/>
              </a:ext>
            </a:extLst>
          </p:cNvPr>
          <p:cNvSpPr txBox="1"/>
          <p:nvPr/>
        </p:nvSpPr>
        <p:spPr>
          <a:xfrm>
            <a:off x="7212418" y="4395999"/>
            <a:ext cx="1224063" cy="461665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積蓄者</a:t>
            </a:r>
            <a:endPara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556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2EB4-155B-A692-DB1A-62934899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19B837B-1418-32E6-E3C7-592A438E8B71}"/>
              </a:ext>
            </a:extLst>
          </p:cNvPr>
          <p:cNvSpPr/>
          <p:nvPr/>
        </p:nvSpPr>
        <p:spPr>
          <a:xfrm>
            <a:off x="565376" y="1953884"/>
            <a:ext cx="1296000" cy="3240000"/>
          </a:xfrm>
          <a:prstGeom prst="rect">
            <a:avLst/>
          </a:prstGeom>
          <a:solidFill>
            <a:srgbClr val="F9851B"/>
          </a:solidFill>
        </p:spPr>
        <p:txBody>
          <a:bodyPr wrap="square">
            <a:spAutoFit/>
          </a:bodyPr>
          <a:lstStyle/>
          <a:p>
            <a:pPr algn="ctr"/>
            <a:r>
              <a:rPr sz="6000" b="1" dirty="0">
                <a:solidFill>
                  <a:srgbClr val="FFFFFF"/>
                </a:solidFill>
                <a:latin typeface="新細明體 (本文)"/>
              </a:rPr>
              <a:t>第</a:t>
            </a:r>
            <a:r>
              <a:rPr lang="en-US" altLang="zh-TW" sz="8000" b="1" dirty="0">
                <a:solidFill>
                  <a:srgbClr val="FFFFFF"/>
                </a:solidFill>
                <a:latin typeface="Aptos (本文)"/>
              </a:rPr>
              <a:t>2</a:t>
            </a:r>
            <a:r>
              <a:rPr sz="6000" b="1" dirty="0">
                <a:solidFill>
                  <a:srgbClr val="FFFFFF"/>
                </a:solidFill>
                <a:latin typeface="新細明體 (本文)"/>
              </a:rPr>
              <a:t>組</a:t>
            </a:r>
            <a:endParaRPr lang="en-US" altLang="zh-TW" sz="6000" b="1" dirty="0">
              <a:solidFill>
                <a:schemeClr val="bg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051C22F-A492-1DAB-3310-8F371BB0FD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" b="-43"/>
          <a:stretch/>
        </p:blipFill>
        <p:spPr>
          <a:xfrm>
            <a:off x="2476289" y="369610"/>
            <a:ext cx="4086978" cy="612335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F1D273E-6B1B-18EA-1697-EB96D458DFA1}"/>
              </a:ext>
            </a:extLst>
          </p:cNvPr>
          <p:cNvSpPr/>
          <p:nvPr/>
        </p:nvSpPr>
        <p:spPr>
          <a:xfrm>
            <a:off x="2476289" y="5308270"/>
            <a:ext cx="4086977" cy="1200329"/>
          </a:xfrm>
          <a:prstGeom prst="rect">
            <a:avLst/>
          </a:prstGeom>
          <a:solidFill>
            <a:srgbClr val="E5336D"/>
          </a:solidFill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＃資深平面設計師</a:t>
            </a:r>
          </a:p>
          <a:p>
            <a:r>
              <a:rPr lang="zh-TW" altLang="en-US" b="1" dirty="0">
                <a:solidFill>
                  <a:schemeClr val="bg1"/>
                </a:solidFill>
              </a:rPr>
              <a:t>＃加入</a:t>
            </a:r>
            <a:r>
              <a:rPr lang="en-US" altLang="zh-TW" b="1" dirty="0">
                <a:solidFill>
                  <a:schemeClr val="bg1"/>
                </a:solidFill>
              </a:rPr>
              <a:t>Rich</a:t>
            </a:r>
            <a:r>
              <a:rPr lang="zh-TW" altLang="en-US" b="1" dirty="0">
                <a:solidFill>
                  <a:schemeClr val="bg1"/>
                </a:solidFill>
              </a:rPr>
              <a:t>二年多還清百萬</a:t>
            </a:r>
          </a:p>
          <a:p>
            <a:r>
              <a:rPr lang="zh-TW" altLang="en-US" b="1" dirty="0">
                <a:solidFill>
                  <a:schemeClr val="bg1"/>
                </a:solidFill>
              </a:rPr>
              <a:t>＃從負到富的樂天派女孩</a:t>
            </a:r>
            <a:endParaRPr lang="en-US" altLang="zh-TW" b="1" dirty="0">
              <a:solidFill>
                <a:schemeClr val="bg1"/>
              </a:solidFill>
            </a:endParaRPr>
          </a:p>
          <a:p>
            <a:r>
              <a:rPr lang="zh-TW" altLang="en-US" b="1" dirty="0">
                <a:solidFill>
                  <a:schemeClr val="bg1"/>
                </a:solidFill>
              </a:rPr>
              <a:t>＃天賦輔導員</a:t>
            </a:r>
            <a:endParaRPr lang="en-US" altLang="zh-TW" b="1" dirty="0">
              <a:solidFill>
                <a:schemeClr val="bg1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44FCA79-F2EB-6BF6-BCBE-EE71D4778A7F}"/>
              </a:ext>
            </a:extLst>
          </p:cNvPr>
          <p:cNvSpPr txBox="1"/>
          <p:nvPr/>
        </p:nvSpPr>
        <p:spPr>
          <a:xfrm>
            <a:off x="2476289" y="4600384"/>
            <a:ext cx="1800000" cy="707886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王慈惠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450C272-3214-33CB-DC1E-FF341716402A}"/>
              </a:ext>
            </a:extLst>
          </p:cNvPr>
          <p:cNvSpPr txBox="1"/>
          <p:nvPr/>
        </p:nvSpPr>
        <p:spPr>
          <a:xfrm>
            <a:off x="2476289" y="4138718"/>
            <a:ext cx="1224063" cy="468000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支持者</a:t>
            </a:r>
            <a:endPara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F2255D2-01B7-9F85-5374-ECFDEFDC12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94" r="5494"/>
          <a:stretch/>
        </p:blipFill>
        <p:spPr>
          <a:xfrm>
            <a:off x="7387452" y="365922"/>
            <a:ext cx="4086978" cy="61164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5004699-1D51-914A-211D-D26DBED10CD5}"/>
              </a:ext>
            </a:extLst>
          </p:cNvPr>
          <p:cNvSpPr/>
          <p:nvPr/>
        </p:nvSpPr>
        <p:spPr>
          <a:xfrm>
            <a:off x="7386221" y="5556612"/>
            <a:ext cx="2749806" cy="923330"/>
          </a:xfrm>
          <a:prstGeom prst="rect">
            <a:avLst/>
          </a:prstGeom>
          <a:solidFill>
            <a:srgbClr val="E5336D"/>
          </a:solidFill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</a:rPr>
              <a:t>#</a:t>
            </a:r>
            <a:r>
              <a:rPr lang="zh-TW" altLang="en-US" b="1" dirty="0">
                <a:solidFill>
                  <a:schemeClr val="bg1"/>
                </a:solidFill>
              </a:rPr>
              <a:t> 熱情如火的</a:t>
            </a:r>
            <a:r>
              <a:rPr lang="en" altLang="zh-TW" b="1" dirty="0">
                <a:solidFill>
                  <a:schemeClr val="bg1"/>
                </a:solidFill>
              </a:rPr>
              <a:t>E</a:t>
            </a:r>
            <a:r>
              <a:rPr lang="zh-TW" altLang="en-US" b="1" dirty="0">
                <a:solidFill>
                  <a:schemeClr val="bg1"/>
                </a:solidFill>
              </a:rPr>
              <a:t>人</a:t>
            </a:r>
          </a:p>
          <a:p>
            <a:r>
              <a:rPr lang="en-US" altLang="zh-TW" b="1" dirty="0">
                <a:solidFill>
                  <a:schemeClr val="bg1"/>
                </a:solidFill>
              </a:rPr>
              <a:t>#</a:t>
            </a:r>
            <a:r>
              <a:rPr lang="zh-TW" altLang="en-US" b="1" dirty="0">
                <a:solidFill>
                  <a:schemeClr val="bg1"/>
                </a:solidFill>
              </a:rPr>
              <a:t> 耐操好用的商人</a:t>
            </a:r>
          </a:p>
          <a:p>
            <a:r>
              <a:rPr lang="en-US" altLang="zh-TW" b="1" dirty="0">
                <a:solidFill>
                  <a:schemeClr val="bg1"/>
                </a:solidFill>
              </a:rPr>
              <a:t>#</a:t>
            </a:r>
            <a:r>
              <a:rPr lang="zh-TW" altLang="en-US" b="1" dirty="0">
                <a:solidFill>
                  <a:schemeClr val="bg1"/>
                </a:solidFill>
              </a:rPr>
              <a:t> 刻苦耐勞的板模小老闆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1A5D850-CBD6-65C9-B8A1-826B3AEFD434}"/>
              </a:ext>
            </a:extLst>
          </p:cNvPr>
          <p:cNvSpPr txBox="1"/>
          <p:nvPr/>
        </p:nvSpPr>
        <p:spPr>
          <a:xfrm>
            <a:off x="7386220" y="4848726"/>
            <a:ext cx="1863285" cy="707886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王岳翰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5152D80-4A34-53AB-F860-25C66355F0EF}"/>
              </a:ext>
            </a:extLst>
          </p:cNvPr>
          <p:cNvSpPr txBox="1"/>
          <p:nvPr/>
        </p:nvSpPr>
        <p:spPr>
          <a:xfrm>
            <a:off x="7385784" y="4387061"/>
            <a:ext cx="1224063" cy="461665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商人</a:t>
            </a:r>
            <a:endPara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018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0212-BDE7-507C-6387-9F06AE4C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E5B38DD-13EF-4DA4-5338-C1EEE368D0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6"/>
          <a:stretch>
            <a:fillRect/>
          </a:stretch>
        </p:blipFill>
        <p:spPr>
          <a:xfrm>
            <a:off x="7425543" y="395460"/>
            <a:ext cx="4151607" cy="5671232"/>
          </a:xfrm>
          <a:prstGeom prst="rect">
            <a:avLst/>
          </a:prstGeom>
        </p:spPr>
      </p:pic>
      <p:pic>
        <p:nvPicPr>
          <p:cNvPr id="4" name="圖片 3" descr="一張含有 服裝, 人員, 人的臉孔, 微笑 的圖片&#10;&#10;AI 產生的內容可能不正確。">
            <a:extLst>
              <a:ext uri="{FF2B5EF4-FFF2-40B4-BE49-F238E27FC236}">
                <a16:creationId xmlns:a16="http://schemas.microsoft.com/office/drawing/2014/main" id="{6982B2C4-9593-C84C-B2A4-39865C26BF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771"/>
          <a:stretch>
            <a:fillRect/>
          </a:stretch>
        </p:blipFill>
        <p:spPr>
          <a:xfrm>
            <a:off x="2534378" y="400252"/>
            <a:ext cx="4102763" cy="60769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6F66E62-E27B-755F-5CE5-46EA12A4F77F}"/>
              </a:ext>
            </a:extLst>
          </p:cNvPr>
          <p:cNvSpPr/>
          <p:nvPr/>
        </p:nvSpPr>
        <p:spPr>
          <a:xfrm>
            <a:off x="565376" y="1953884"/>
            <a:ext cx="1296000" cy="2954655"/>
          </a:xfrm>
          <a:prstGeom prst="rect">
            <a:avLst/>
          </a:prstGeom>
          <a:solidFill>
            <a:srgbClr val="F9851B"/>
          </a:solidFill>
        </p:spPr>
        <p:txBody>
          <a:bodyPr wrap="square">
            <a:spAutoFit/>
          </a:bodyPr>
          <a:lstStyle/>
          <a:p>
            <a:pPr algn="ctr"/>
            <a:r>
              <a:rPr sz="6000" b="1" dirty="0">
                <a:solidFill>
                  <a:srgbClr val="FFFFFF"/>
                </a:solidFill>
                <a:latin typeface="新細明體 (本文)"/>
              </a:rPr>
              <a:t>第</a:t>
            </a:r>
            <a:r>
              <a:rPr lang="en-US" altLang="zh-TW" sz="6600" b="1" dirty="0">
                <a:solidFill>
                  <a:srgbClr val="FFFFFF"/>
                </a:solidFill>
                <a:latin typeface="Aptos (本文)"/>
              </a:rPr>
              <a:t>3</a:t>
            </a:r>
            <a:r>
              <a:rPr sz="6000" b="1" dirty="0">
                <a:solidFill>
                  <a:srgbClr val="FFFFFF"/>
                </a:solidFill>
                <a:latin typeface="新細明體 (本文)"/>
              </a:rPr>
              <a:t>組</a:t>
            </a:r>
            <a:endParaRPr lang="en-US" altLang="zh-TW" sz="6000" b="1" dirty="0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55D4AF-FEF8-FE1E-9B59-167CA0B197CC}"/>
              </a:ext>
            </a:extLst>
          </p:cNvPr>
          <p:cNvSpPr/>
          <p:nvPr/>
        </p:nvSpPr>
        <p:spPr>
          <a:xfrm>
            <a:off x="2509995" y="5553822"/>
            <a:ext cx="4139770" cy="923330"/>
          </a:xfrm>
          <a:prstGeom prst="rect">
            <a:avLst/>
          </a:prstGeom>
          <a:solidFill>
            <a:srgbClr val="E5336D"/>
          </a:solidFill>
        </p:spPr>
        <p:txBody>
          <a:bodyPr wrap="square" lIns="45720" rIns="45720" anchor="t">
            <a:spAutoFit/>
          </a:bodyPr>
          <a:lstStyle/>
          <a:p>
            <a:r>
              <a:rPr lang="en-US" altLang="zh-TW" b="1" dirty="0">
                <a:solidFill>
                  <a:srgbClr val="FFFFFF"/>
                </a:solidFill>
                <a:latin typeface="微軟正黑體"/>
              </a:rPr>
              <a:t>#</a:t>
            </a:r>
            <a:r>
              <a:rPr lang="zh-TW" altLang="en-US" b="1" dirty="0">
                <a:solidFill>
                  <a:srgbClr val="FFFFFF"/>
                </a:solidFill>
                <a:latin typeface="微軟正黑體"/>
              </a:rPr>
              <a:t>學苑最強補位手</a:t>
            </a:r>
          </a:p>
          <a:p>
            <a:r>
              <a:rPr lang="en-US" altLang="zh-TW" b="1" dirty="0">
                <a:solidFill>
                  <a:srgbClr val="FFFFFF"/>
                </a:solidFill>
                <a:latin typeface="微軟正黑體"/>
              </a:rPr>
              <a:t>#</a:t>
            </a:r>
            <a:r>
              <a:rPr lang="zh-TW" altLang="en-US" b="1" dirty="0">
                <a:solidFill>
                  <a:srgbClr val="FFFFFF"/>
                </a:solidFill>
                <a:latin typeface="微軟正黑體"/>
              </a:rPr>
              <a:t>小幫手天花板</a:t>
            </a:r>
          </a:p>
          <a:p>
            <a:r>
              <a:rPr lang="en-US" altLang="zh-TW" b="1" dirty="0">
                <a:solidFill>
                  <a:srgbClr val="FFFFFF"/>
                </a:solidFill>
                <a:latin typeface="微軟正黑體"/>
              </a:rPr>
              <a:t>#</a:t>
            </a:r>
            <a:r>
              <a:rPr lang="zh-TW" altLang="en-US" b="1" dirty="0">
                <a:solidFill>
                  <a:srgbClr val="FFFFFF"/>
                </a:solidFill>
                <a:latin typeface="微軟正黑體"/>
              </a:rPr>
              <a:t>負債百萬到淨資產</a:t>
            </a:r>
            <a:r>
              <a:rPr lang="en-US" altLang="zh-TW" b="1" dirty="0">
                <a:solidFill>
                  <a:srgbClr val="FFFFFF"/>
                </a:solidFill>
                <a:latin typeface="微軟正黑體"/>
              </a:rPr>
              <a:t>400</a:t>
            </a:r>
            <a:r>
              <a:rPr lang="zh-TW" altLang="en-US" b="1" dirty="0">
                <a:solidFill>
                  <a:srgbClr val="FFFFFF"/>
                </a:solidFill>
                <a:latin typeface="微軟正黑體"/>
              </a:rPr>
              <a:t>萬的退伍軍人</a:t>
            </a:r>
            <a:endParaRPr b="1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B3CD63E-BEC0-8CD2-C75B-EF9B3BBB9B43}"/>
              </a:ext>
            </a:extLst>
          </p:cNvPr>
          <p:cNvSpPr txBox="1"/>
          <p:nvPr/>
        </p:nvSpPr>
        <p:spPr>
          <a:xfrm>
            <a:off x="2509994" y="4838881"/>
            <a:ext cx="1748855" cy="707886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黃靜鈺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107BD10-CA9B-A18A-21A1-4FF55E6B0182}"/>
              </a:ext>
            </a:extLst>
          </p:cNvPr>
          <p:cNvSpPr txBox="1"/>
          <p:nvPr/>
        </p:nvSpPr>
        <p:spPr>
          <a:xfrm>
            <a:off x="2509994" y="4372482"/>
            <a:ext cx="1224000" cy="461665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商人</a:t>
            </a:r>
            <a:endPara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2271808-6164-1DD1-C8DD-B3EEDA3118EA}"/>
              </a:ext>
            </a:extLst>
          </p:cNvPr>
          <p:cNvSpPr/>
          <p:nvPr/>
        </p:nvSpPr>
        <p:spPr>
          <a:xfrm>
            <a:off x="7412920" y="5539210"/>
            <a:ext cx="4139770" cy="923330"/>
          </a:xfrm>
          <a:prstGeom prst="rect">
            <a:avLst/>
          </a:prstGeom>
          <a:solidFill>
            <a:srgbClr val="E5336D"/>
          </a:solidFill>
        </p:spPr>
        <p:txBody>
          <a:bodyPr wrap="square" lIns="45720" rIns="45720" anchor="t">
            <a:spAutoFit/>
          </a:bodyPr>
          <a:lstStyle/>
          <a:p>
            <a:r>
              <a:rPr lang="en-US" altLang="zh-TW" b="1" dirty="0">
                <a:solidFill>
                  <a:srgbClr val="FFFFFF"/>
                </a:solidFill>
                <a:latin typeface="微軟正黑體"/>
              </a:rPr>
              <a:t>#</a:t>
            </a:r>
            <a:r>
              <a:rPr lang="zh-TW" altLang="en-US" b="1" dirty="0">
                <a:solidFill>
                  <a:srgbClr val="FFFFFF"/>
                </a:solidFill>
                <a:latin typeface="微軟正黑體"/>
              </a:rPr>
              <a:t>國家隊防護員</a:t>
            </a:r>
          </a:p>
          <a:p>
            <a:r>
              <a:rPr lang="en-US" altLang="zh-TW" b="1" dirty="0">
                <a:solidFill>
                  <a:srgbClr val="FFFFFF"/>
                </a:solidFill>
                <a:latin typeface="微軟正黑體"/>
              </a:rPr>
              <a:t>#</a:t>
            </a:r>
            <a:r>
              <a:rPr lang="zh-TW" altLang="en-US" b="1" dirty="0">
                <a:solidFill>
                  <a:srgbClr val="FFFFFF"/>
                </a:solidFill>
                <a:latin typeface="微軟正黑體"/>
              </a:rPr>
              <a:t>陪伴芭樂老師環島防護員</a:t>
            </a:r>
          </a:p>
          <a:p>
            <a:r>
              <a:rPr lang="en-US" altLang="zh-TW" b="1" dirty="0">
                <a:solidFill>
                  <a:srgbClr val="FFFFFF"/>
                </a:solidFill>
                <a:latin typeface="微軟正黑體"/>
              </a:rPr>
              <a:t>#</a:t>
            </a:r>
            <a:r>
              <a:rPr lang="zh-TW" altLang="en-US" b="1" dirty="0">
                <a:solidFill>
                  <a:srgbClr val="FFFFFF"/>
                </a:solidFill>
                <a:latin typeface="微軟正黑體"/>
              </a:rPr>
              <a:t>英特波無痛放鬆按摩師</a:t>
            </a:r>
            <a:endParaRPr b="1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2729F91-0A5A-6A56-9079-2B41834269FF}"/>
              </a:ext>
            </a:extLst>
          </p:cNvPr>
          <p:cNvSpPr txBox="1"/>
          <p:nvPr/>
        </p:nvSpPr>
        <p:spPr>
          <a:xfrm>
            <a:off x="7412920" y="4829056"/>
            <a:ext cx="1793710" cy="707886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吳雪寧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18C291D-8F24-F9F9-8EBF-066CC325E8A7}"/>
              </a:ext>
            </a:extLst>
          </p:cNvPr>
          <p:cNvSpPr txBox="1"/>
          <p:nvPr/>
        </p:nvSpPr>
        <p:spPr>
          <a:xfrm>
            <a:off x="7412920" y="4378783"/>
            <a:ext cx="1224000" cy="461665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支持者</a:t>
            </a:r>
            <a:endPara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05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D3ACB-DD57-AAA0-F470-804D0972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人員, 人的臉孔, 微笑, 服裝 的圖片&#10;&#10;自動產生的描述">
            <a:extLst>
              <a:ext uri="{FF2B5EF4-FFF2-40B4-BE49-F238E27FC236}">
                <a16:creationId xmlns:a16="http://schemas.microsoft.com/office/drawing/2014/main" id="{D0972622-D471-FB1C-173A-434F83930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779" y="740376"/>
            <a:ext cx="4314010" cy="574682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C2AA14F-8C38-F45B-029A-ED4C0B8517E6}"/>
              </a:ext>
            </a:extLst>
          </p:cNvPr>
          <p:cNvSpPr/>
          <p:nvPr/>
        </p:nvSpPr>
        <p:spPr>
          <a:xfrm>
            <a:off x="674645" y="1980942"/>
            <a:ext cx="1120140" cy="3046988"/>
          </a:xfrm>
          <a:prstGeom prst="rect">
            <a:avLst/>
          </a:prstGeom>
          <a:solidFill>
            <a:srgbClr val="F9851B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6000" b="1" dirty="0">
                <a:solidFill>
                  <a:schemeClr val="bg1"/>
                </a:solidFill>
              </a:rPr>
              <a:t>第</a:t>
            </a:r>
            <a:endParaRPr lang="en-US" altLang="zh-TW" sz="6000" b="1" dirty="0">
              <a:solidFill>
                <a:schemeClr val="bg1"/>
              </a:solidFill>
            </a:endParaRPr>
          </a:p>
          <a:p>
            <a:pPr algn="ctr"/>
            <a:r>
              <a:rPr lang="en-US" altLang="zh-TW" sz="7200" b="1" dirty="0">
                <a:solidFill>
                  <a:schemeClr val="bg1"/>
                </a:solidFill>
              </a:rPr>
              <a:t>4</a:t>
            </a:r>
          </a:p>
          <a:p>
            <a:pPr algn="ctr"/>
            <a:r>
              <a:rPr lang="zh-TW" altLang="en-US" sz="6000" b="1" dirty="0">
                <a:solidFill>
                  <a:schemeClr val="bg1"/>
                </a:solidFill>
              </a:rPr>
              <a:t>組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02B8A53-7F56-B26B-1C63-10C68FD340DD}"/>
              </a:ext>
            </a:extLst>
          </p:cNvPr>
          <p:cNvGrpSpPr/>
          <p:nvPr/>
        </p:nvGrpSpPr>
        <p:grpSpPr>
          <a:xfrm>
            <a:off x="2348342" y="4398894"/>
            <a:ext cx="4314009" cy="2088305"/>
            <a:chOff x="7428707" y="4400085"/>
            <a:chExt cx="4314009" cy="208830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26D9CCF-422A-5751-97F4-E699BF0BDEEF}"/>
                </a:ext>
              </a:extLst>
            </p:cNvPr>
            <p:cNvSpPr/>
            <p:nvPr/>
          </p:nvSpPr>
          <p:spPr>
            <a:xfrm>
              <a:off x="7428707" y="5565060"/>
              <a:ext cx="4314009" cy="923330"/>
            </a:xfrm>
            <a:prstGeom prst="rect">
              <a:avLst/>
            </a:prstGeom>
            <a:solidFill>
              <a:srgbClr val="E5336D"/>
            </a:solidFill>
          </p:spPr>
          <p:txBody>
            <a:bodyPr wrap="square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# </a:t>
              </a:r>
              <a:r>
                <a:rPr lang="zh-TW" altLang="en-US" b="1" dirty="0">
                  <a:solidFill>
                    <a:schemeClr val="bg1"/>
                  </a:solidFill>
                </a:rPr>
                <a:t>轉戰保經月收入破</a:t>
              </a:r>
              <a:r>
                <a:rPr lang="en-US" altLang="zh-TW" b="1" dirty="0">
                  <a:solidFill>
                    <a:schemeClr val="bg1"/>
                  </a:solidFill>
                </a:rPr>
                <a:t>10</a:t>
              </a:r>
              <a:r>
                <a:rPr lang="zh-TW" altLang="en-US" b="1" dirty="0">
                  <a:solidFill>
                    <a:schemeClr val="bg1"/>
                  </a:solidFill>
                </a:rPr>
                <a:t>萬</a:t>
              </a:r>
            </a:p>
            <a:p>
              <a:r>
                <a:rPr lang="en-US" altLang="zh-TW" b="1" dirty="0">
                  <a:solidFill>
                    <a:schemeClr val="bg1"/>
                  </a:solidFill>
                </a:rPr>
                <a:t>#</a:t>
              </a:r>
              <a:r>
                <a:rPr lang="zh-TW" altLang="en-US" b="1" dirty="0">
                  <a:solidFill>
                    <a:schemeClr val="bg1"/>
                  </a:solidFill>
                </a:rPr>
                <a:t>自媒體圖文接案小幫手</a:t>
              </a:r>
            </a:p>
            <a:p>
              <a:r>
                <a:rPr lang="en-US" altLang="zh-TW" b="1" dirty="0">
                  <a:solidFill>
                    <a:schemeClr val="bg1"/>
                  </a:solidFill>
                </a:rPr>
                <a:t>#</a:t>
              </a:r>
              <a:r>
                <a:rPr lang="zh-TW" altLang="en-US" b="1" dirty="0">
                  <a:solidFill>
                    <a:schemeClr val="bg1"/>
                  </a:solidFill>
                </a:rPr>
                <a:t> 象棋卜卦陪你突破卡點</a:t>
              </a: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D60F9213-D587-E1AC-5D9A-C616E7BA69A1}"/>
                </a:ext>
              </a:extLst>
            </p:cNvPr>
            <p:cNvSpPr txBox="1"/>
            <p:nvPr/>
          </p:nvSpPr>
          <p:spPr>
            <a:xfrm>
              <a:off x="7428709" y="4861750"/>
              <a:ext cx="1816344" cy="707886"/>
            </a:xfrm>
            <a:prstGeom prst="rect">
              <a:avLst/>
            </a:prstGeom>
            <a:solidFill>
              <a:srgbClr val="FFFFFF">
                <a:alpha val="87059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岑浣禎</a:t>
              </a:r>
              <a:endPara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2503AC67-846F-BEEC-CC2E-5D09B36D34BF}"/>
                </a:ext>
              </a:extLst>
            </p:cNvPr>
            <p:cNvSpPr txBox="1"/>
            <p:nvPr/>
          </p:nvSpPr>
          <p:spPr>
            <a:xfrm>
              <a:off x="7428709" y="4400085"/>
              <a:ext cx="1224063" cy="461665"/>
            </a:xfrm>
            <a:prstGeom prst="rect">
              <a:avLst/>
            </a:prstGeom>
            <a:solidFill>
              <a:srgbClr val="FFFFFF">
                <a:alpha val="87059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支持者</a:t>
              </a:r>
              <a:endPara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8374AE69-DF54-E395-A4D6-5EBEC07E6D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94" r="5494"/>
          <a:stretch/>
        </p:blipFill>
        <p:spPr>
          <a:xfrm>
            <a:off x="7512137" y="510172"/>
            <a:ext cx="4085388" cy="611402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0AABDC3-DFC2-017E-9EEC-BCC139359D5B}"/>
              </a:ext>
            </a:extLst>
          </p:cNvPr>
          <p:cNvSpPr/>
          <p:nvPr/>
        </p:nvSpPr>
        <p:spPr>
          <a:xfrm>
            <a:off x="7511342" y="5699672"/>
            <a:ext cx="4085388" cy="923330"/>
          </a:xfrm>
          <a:prstGeom prst="rect">
            <a:avLst/>
          </a:prstGeom>
          <a:solidFill>
            <a:srgbClr val="E5336D"/>
          </a:solidFill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＃用愛扭轉人生的支持者</a:t>
            </a:r>
          </a:p>
          <a:p>
            <a:r>
              <a:rPr lang="zh-TW" altLang="en-US" b="1" dirty="0">
                <a:solidFill>
                  <a:schemeClr val="bg1"/>
                </a:solidFill>
              </a:rPr>
              <a:t>＃運用綜合分析的七號算命師</a:t>
            </a:r>
          </a:p>
          <a:p>
            <a:r>
              <a:rPr lang="zh-TW" altLang="en-US" b="1" dirty="0">
                <a:solidFill>
                  <a:schemeClr val="bg1"/>
                </a:solidFill>
              </a:rPr>
              <a:t>＃從負變富的小資理財規劃師</a:t>
            </a:r>
            <a:endParaRPr lang="en-US" altLang="zh-TW" b="1" dirty="0">
              <a:solidFill>
                <a:schemeClr val="bg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E0F0EC0-9BDA-FE83-1F93-989CD002EEEE}"/>
              </a:ext>
            </a:extLst>
          </p:cNvPr>
          <p:cNvSpPr txBox="1"/>
          <p:nvPr/>
        </p:nvSpPr>
        <p:spPr>
          <a:xfrm>
            <a:off x="7511779" y="4991786"/>
            <a:ext cx="1224063" cy="707886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翊哲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9AF951-E4FE-D2AE-D794-8784431B8359}"/>
              </a:ext>
            </a:extLst>
          </p:cNvPr>
          <p:cNvSpPr txBox="1"/>
          <p:nvPr/>
        </p:nvSpPr>
        <p:spPr>
          <a:xfrm>
            <a:off x="7511343" y="4530121"/>
            <a:ext cx="1224063" cy="461665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支持者</a:t>
            </a:r>
            <a:endPara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049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619A-940F-0CDA-1DFE-17742D1A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CCE533A-D3A4-9308-11B4-951A6BF30659}"/>
              </a:ext>
            </a:extLst>
          </p:cNvPr>
          <p:cNvSpPr/>
          <p:nvPr/>
        </p:nvSpPr>
        <p:spPr>
          <a:xfrm>
            <a:off x="565376" y="1953884"/>
            <a:ext cx="1296000" cy="2954655"/>
          </a:xfrm>
          <a:prstGeom prst="rect">
            <a:avLst/>
          </a:prstGeom>
          <a:solidFill>
            <a:srgbClr val="F9851B"/>
          </a:solidFill>
        </p:spPr>
        <p:txBody>
          <a:bodyPr wrap="square">
            <a:spAutoFit/>
          </a:bodyPr>
          <a:lstStyle/>
          <a:p>
            <a:pPr algn="ctr"/>
            <a:r>
              <a:rPr sz="6000" b="1" dirty="0">
                <a:solidFill>
                  <a:srgbClr val="FFFFFF"/>
                </a:solidFill>
                <a:latin typeface="新細明體 (本文)"/>
              </a:rPr>
              <a:t>第</a:t>
            </a:r>
            <a:r>
              <a:rPr lang="en-US" altLang="zh-TW" sz="6600" b="1" dirty="0">
                <a:solidFill>
                  <a:srgbClr val="FFFFFF"/>
                </a:solidFill>
                <a:latin typeface="Aptos (本文)"/>
              </a:rPr>
              <a:t>5</a:t>
            </a:r>
            <a:r>
              <a:rPr sz="6000" b="1" dirty="0">
                <a:solidFill>
                  <a:srgbClr val="FFFFFF"/>
                </a:solidFill>
                <a:latin typeface="新細明體 (本文)"/>
              </a:rPr>
              <a:t>組</a:t>
            </a:r>
            <a:endParaRPr lang="en-US" altLang="zh-TW" sz="6000" b="1" dirty="0">
              <a:solidFill>
                <a:schemeClr val="bg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D994452-1D18-9557-7C8E-A6687EC10482}"/>
              </a:ext>
            </a:extLst>
          </p:cNvPr>
          <p:cNvSpPr txBox="1"/>
          <p:nvPr/>
        </p:nvSpPr>
        <p:spPr>
          <a:xfrm>
            <a:off x="2722774" y="4927507"/>
            <a:ext cx="1800910" cy="707886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翁禎蔚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8990AC3-C5CF-46B9-6CFB-0450B984E988}"/>
              </a:ext>
            </a:extLst>
          </p:cNvPr>
          <p:cNvSpPr txBox="1"/>
          <p:nvPr/>
        </p:nvSpPr>
        <p:spPr>
          <a:xfrm>
            <a:off x="2722774" y="4465841"/>
            <a:ext cx="1224063" cy="468000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積蓄者</a:t>
            </a:r>
            <a:endPara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17D2D5B-B9DB-5C15-30C4-A65144F7B6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26" t="10046" r="5722"/>
          <a:stretch>
            <a:fillRect/>
          </a:stretch>
        </p:blipFill>
        <p:spPr>
          <a:xfrm>
            <a:off x="2652268" y="485420"/>
            <a:ext cx="4059959" cy="562174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0C6AE44-9E5C-981C-5708-35A25CC89375}"/>
              </a:ext>
            </a:extLst>
          </p:cNvPr>
          <p:cNvSpPr/>
          <p:nvPr/>
        </p:nvSpPr>
        <p:spPr>
          <a:xfrm>
            <a:off x="2635691" y="5635393"/>
            <a:ext cx="4076536" cy="923330"/>
          </a:xfrm>
          <a:prstGeom prst="rect">
            <a:avLst/>
          </a:prstGeom>
          <a:solidFill>
            <a:srgbClr val="E5336D"/>
          </a:solidFill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</a:rPr>
              <a:t>#</a:t>
            </a:r>
            <a:r>
              <a:rPr lang="zh-TW" altLang="en-US" sz="1800" b="1" dirty="0">
                <a:solidFill>
                  <a:schemeClr val="bg1"/>
                </a:solidFill>
              </a:rPr>
              <a:t>火焰</a:t>
            </a:r>
            <a:r>
              <a:rPr lang="zh-TW" altLang="en-US" b="1" dirty="0">
                <a:solidFill>
                  <a:schemeClr val="bg1"/>
                </a:solidFill>
              </a:rPr>
              <a:t>０</a:t>
            </a:r>
            <a:r>
              <a:rPr lang="zh-TW" altLang="en-US" sz="1800" b="1" dirty="0">
                <a:solidFill>
                  <a:schemeClr val="bg1"/>
                </a:solidFill>
              </a:rPr>
              <a:t>的鋼鐵人</a:t>
            </a:r>
          </a:p>
          <a:p>
            <a:r>
              <a:rPr lang="en-US" altLang="zh-TW" sz="1800" b="1" dirty="0">
                <a:solidFill>
                  <a:schemeClr val="bg1"/>
                </a:solidFill>
              </a:rPr>
              <a:t>#</a:t>
            </a:r>
            <a:r>
              <a:rPr lang="zh-TW" altLang="en-US" sz="1800" b="1" dirty="0">
                <a:solidFill>
                  <a:schemeClr val="bg1"/>
                </a:solidFill>
              </a:rPr>
              <a:t>身高無法超越</a:t>
            </a:r>
            <a:r>
              <a:rPr lang="en-US" altLang="zh-TW" sz="1800" b="1" dirty="0">
                <a:solidFill>
                  <a:schemeClr val="bg1"/>
                </a:solidFill>
              </a:rPr>
              <a:t>150</a:t>
            </a:r>
            <a:r>
              <a:rPr lang="zh-TW" altLang="en-US" sz="1800" b="1" dirty="0">
                <a:solidFill>
                  <a:schemeClr val="bg1"/>
                </a:solidFill>
              </a:rPr>
              <a:t>但追求生命不斷成長</a:t>
            </a:r>
          </a:p>
          <a:p>
            <a:r>
              <a:rPr lang="en-US" altLang="zh-TW" sz="1800" b="1" dirty="0">
                <a:solidFill>
                  <a:schemeClr val="bg1"/>
                </a:solidFill>
              </a:rPr>
              <a:t>#</a:t>
            </a:r>
            <a:r>
              <a:rPr lang="zh-TW" altLang="en-US" sz="1800" b="1" dirty="0">
                <a:solidFill>
                  <a:schemeClr val="bg1"/>
                </a:solidFill>
              </a:rPr>
              <a:t>溫暖二寶媽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AB39B02-6549-B708-A1BE-9DF8976C1F62}"/>
              </a:ext>
            </a:extLst>
          </p:cNvPr>
          <p:cNvSpPr txBox="1"/>
          <p:nvPr/>
        </p:nvSpPr>
        <p:spPr>
          <a:xfrm>
            <a:off x="2635690" y="4927507"/>
            <a:ext cx="1800910" cy="707886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翁禎蔚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9C84653-7803-7D49-11E9-878187D2E9DA}"/>
              </a:ext>
            </a:extLst>
          </p:cNvPr>
          <p:cNvSpPr txBox="1"/>
          <p:nvPr/>
        </p:nvSpPr>
        <p:spPr>
          <a:xfrm>
            <a:off x="2635690" y="4465841"/>
            <a:ext cx="1224063" cy="468000"/>
          </a:xfrm>
          <a:prstGeom prst="rect">
            <a:avLst/>
          </a:prstGeom>
          <a:solidFill>
            <a:srgbClr val="FFFFFF">
              <a:alpha val="87059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積蓄者</a:t>
            </a:r>
            <a:endPara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28B9545-3AAB-41F8-C261-29557C0696DD}"/>
              </a:ext>
            </a:extLst>
          </p:cNvPr>
          <p:cNvGrpSpPr/>
          <p:nvPr/>
        </p:nvGrpSpPr>
        <p:grpSpPr>
          <a:xfrm>
            <a:off x="7427119" y="373434"/>
            <a:ext cx="3572185" cy="6131889"/>
            <a:chOff x="7427119" y="373434"/>
            <a:chExt cx="3572185" cy="6131889"/>
          </a:xfrm>
        </p:grpSpPr>
        <p:pic>
          <p:nvPicPr>
            <p:cNvPr id="3" name="圖片 2" descr="一張含有 人的臉孔, 人員, 服裝, 皮衣 的圖片&#10;&#10;自動產生的描述">
              <a:extLst>
                <a:ext uri="{FF2B5EF4-FFF2-40B4-BE49-F238E27FC236}">
                  <a16:creationId xmlns:a16="http://schemas.microsoft.com/office/drawing/2014/main" id="{775A1E33-4C72-0A29-75EE-DAF602EBD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7119" y="373434"/>
              <a:ext cx="3572185" cy="6114956"/>
            </a:xfrm>
            <a:prstGeom prst="rect">
              <a:avLst/>
            </a:prstGeom>
          </p:spPr>
        </p:pic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BA035716-66C4-65ED-2561-4463AE6469C0}"/>
                </a:ext>
              </a:extLst>
            </p:cNvPr>
            <p:cNvGrpSpPr/>
            <p:nvPr/>
          </p:nvGrpSpPr>
          <p:grpSpPr>
            <a:xfrm>
              <a:off x="7428708" y="4400084"/>
              <a:ext cx="3570596" cy="2105239"/>
              <a:chOff x="7428708" y="4400084"/>
              <a:chExt cx="3570596" cy="2105239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49A1681-4382-3251-B890-48FCDE533FCC}"/>
                  </a:ext>
                </a:extLst>
              </p:cNvPr>
              <p:cNvSpPr/>
              <p:nvPr/>
            </p:nvSpPr>
            <p:spPr>
              <a:xfrm>
                <a:off x="7428708" y="5581993"/>
                <a:ext cx="3570596" cy="923330"/>
              </a:xfrm>
              <a:prstGeom prst="rect">
                <a:avLst/>
              </a:prstGeom>
              <a:solidFill>
                <a:srgbClr val="E5336D"/>
              </a:solidFill>
            </p:spPr>
            <p:txBody>
              <a:bodyPr wrap="square">
                <a:spAutoFit/>
              </a:bodyPr>
              <a:lstStyle/>
              <a:p>
                <a:r>
                  <a:rPr lang="zh-TW" altLang="en-US" b="1" dirty="0">
                    <a:solidFill>
                      <a:schemeClr val="bg1"/>
                    </a:solidFill>
                  </a:rPr>
                  <a:t>＃ </a:t>
                </a:r>
                <a:r>
                  <a:rPr lang="en-US" altLang="zh-TW" b="1" dirty="0">
                    <a:solidFill>
                      <a:schemeClr val="bg1"/>
                    </a:solidFill>
                  </a:rPr>
                  <a:t>11</a:t>
                </a:r>
                <a:r>
                  <a:rPr lang="zh-TW" altLang="en-US" b="1" dirty="0">
                    <a:solidFill>
                      <a:schemeClr val="bg1"/>
                    </a:solidFill>
                  </a:rPr>
                  <a:t>年行銷人</a:t>
                </a:r>
              </a:p>
              <a:p>
                <a:r>
                  <a:rPr lang="zh-TW" altLang="en-US" b="1" dirty="0">
                    <a:solidFill>
                      <a:schemeClr val="bg1"/>
                    </a:solidFill>
                  </a:rPr>
                  <a:t>＃可愛又奇怪的自學達人</a:t>
                </a:r>
              </a:p>
              <a:p>
                <a:r>
                  <a:rPr lang="zh-TW" altLang="en-US" b="1" dirty="0">
                    <a:solidFill>
                      <a:schemeClr val="bg1"/>
                    </a:solidFill>
                  </a:rPr>
                  <a:t>＃人類圖系統化咨詢師</a:t>
                </a:r>
                <a:endParaRPr lang="en-US" altLang="zh-TW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CC31314-40E0-A471-8131-4599CBF83036}"/>
                  </a:ext>
                </a:extLst>
              </p:cNvPr>
              <p:cNvSpPr txBox="1"/>
              <p:nvPr/>
            </p:nvSpPr>
            <p:spPr>
              <a:xfrm>
                <a:off x="7428709" y="4861750"/>
                <a:ext cx="1800000" cy="707886"/>
              </a:xfrm>
              <a:prstGeom prst="rect">
                <a:avLst/>
              </a:prstGeom>
              <a:solidFill>
                <a:srgbClr val="FFFFFF">
                  <a:alpha val="87059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40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周詩容</a:t>
                </a:r>
                <a:endParaRPr lang="en-US" altLang="zh-TW" sz="40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F88EE9F-7820-C744-E11B-FD36A55D7B14}"/>
                  </a:ext>
                </a:extLst>
              </p:cNvPr>
              <p:cNvSpPr txBox="1"/>
              <p:nvPr/>
            </p:nvSpPr>
            <p:spPr>
              <a:xfrm>
                <a:off x="7428709" y="4400084"/>
                <a:ext cx="900000" cy="468000"/>
              </a:xfrm>
              <a:prstGeom prst="rect">
                <a:avLst/>
              </a:prstGeom>
              <a:solidFill>
                <a:srgbClr val="FFFFFF">
                  <a:alpha val="87059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2400" b="1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技師</a:t>
                </a:r>
                <a:endParaRPr lang="en-US" altLang="zh-TW" sz="2400" b="1" dirty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305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28537</TotalTime>
  <Words>259</Words>
  <Application>Microsoft Office PowerPoint</Application>
  <PresentationFormat>寬螢幕</PresentationFormat>
  <Paragraphs>67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Aptos (本文)</vt:lpstr>
      <vt:lpstr>微軟正黑體</vt:lpstr>
      <vt:lpstr>新細明體 (本文)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rich chou</dc:creator>
  <cp:lastModifiedBy>A11300</cp:lastModifiedBy>
  <cp:revision>160</cp:revision>
  <dcterms:created xsi:type="dcterms:W3CDTF">2023-08-02T06:15:10Z</dcterms:created>
  <dcterms:modified xsi:type="dcterms:W3CDTF">2026-05-27T05:05:27Z</dcterms:modified>
</cp:coreProperties>
</file>